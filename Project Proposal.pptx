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4597"/>
    <p:restoredTop sz="94304"/>
  </p:normalViewPr>
  <p:slideViewPr>
    <p:cSldViewPr snapToGrid="0">
      <p:cViewPr>
        <p:scale>
          <a:sx n="41" d="100"/>
          <a:sy n="41" d="100"/>
        </p:scale>
        <p:origin x="712" y="9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042E66-FC1C-644E-BAAD-0E998C4B1E2B}" type="datetimeFigureOut">
              <a:rPr lang="en-US" smtClean="0"/>
              <a:t>2/23/26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FFA9BC-F74B-CD48-A46D-ED0889884276}" type="slidenum">
              <a:rPr lang="en-US" smtClean="0"/>
              <a:t>‹#›</a:t>
            </a:fld>
            <a:endParaRPr lang="en-US"/>
          </a:p>
        </p:txBody>
      </p:sp>
    </p:spTree>
    <p:extLst>
      <p:ext uri="{BB962C8B-B14F-4D97-AF65-F5344CB8AC3E}">
        <p14:creationId xmlns:p14="http://schemas.microsoft.com/office/powerpoint/2010/main" val="661230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FFA9BC-F74B-CD48-A46D-ED0889884276}" type="slidenum">
              <a:rPr lang="en-US" smtClean="0"/>
              <a:t>2</a:t>
            </a:fld>
            <a:endParaRPr lang="en-US"/>
          </a:p>
        </p:txBody>
      </p:sp>
    </p:spTree>
    <p:extLst>
      <p:ext uri="{BB962C8B-B14F-4D97-AF65-F5344CB8AC3E}">
        <p14:creationId xmlns:p14="http://schemas.microsoft.com/office/powerpoint/2010/main" val="1737436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FC8A-3593-9BE6-CE81-DBAFC075AB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13DAAE-B32C-6D8B-3D23-0C53C71706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C20BEA-A86C-388B-B610-DEEEB6F67900}"/>
              </a:ext>
            </a:extLst>
          </p:cNvPr>
          <p:cNvSpPr>
            <a:spLocks noGrp="1"/>
          </p:cNvSpPr>
          <p:nvPr>
            <p:ph type="dt" sz="half" idx="10"/>
          </p:nvPr>
        </p:nvSpPr>
        <p:spPr/>
        <p:txBody>
          <a:bodyPr/>
          <a:lstStyle/>
          <a:p>
            <a:fld id="{1B556F84-58C0-0448-97BF-3977BA4408F0}" type="datetime1">
              <a:rPr lang="en-US" smtClean="0"/>
              <a:t>2/23/26</a:t>
            </a:fld>
            <a:endParaRPr lang="en-US"/>
          </a:p>
        </p:txBody>
      </p:sp>
      <p:sp>
        <p:nvSpPr>
          <p:cNvPr id="5" name="Footer Placeholder 4">
            <a:extLst>
              <a:ext uri="{FF2B5EF4-FFF2-40B4-BE49-F238E27FC236}">
                <a16:creationId xmlns:a16="http://schemas.microsoft.com/office/drawing/2014/main" id="{99A2FB5A-5FD8-B25C-6340-634428CC612C}"/>
              </a:ext>
            </a:extLst>
          </p:cNvPr>
          <p:cNvSpPr>
            <a:spLocks noGrp="1"/>
          </p:cNvSpPr>
          <p:nvPr>
            <p:ph type="ftr" sz="quarter" idx="11"/>
          </p:nvPr>
        </p:nvSpPr>
        <p:spPr/>
        <p:txBody>
          <a:bodyPr/>
          <a:lstStyle/>
          <a:p>
            <a:r>
              <a:rPr lang="en-US"/>
              <a:t>DV2638 – Machine Learning</a:t>
            </a:r>
          </a:p>
        </p:txBody>
      </p:sp>
      <p:sp>
        <p:nvSpPr>
          <p:cNvPr id="6" name="Slide Number Placeholder 5">
            <a:extLst>
              <a:ext uri="{FF2B5EF4-FFF2-40B4-BE49-F238E27FC236}">
                <a16:creationId xmlns:a16="http://schemas.microsoft.com/office/drawing/2014/main" id="{8AF4F8CE-1800-79E5-2513-8D3AB3D5AD58}"/>
              </a:ext>
            </a:extLst>
          </p:cNvPr>
          <p:cNvSpPr>
            <a:spLocks noGrp="1"/>
          </p:cNvSpPr>
          <p:nvPr>
            <p:ph type="sldNum" sz="quarter" idx="12"/>
          </p:nvPr>
        </p:nvSpPr>
        <p:spPr/>
        <p:txBody>
          <a:bodyPr/>
          <a:lstStyle/>
          <a:p>
            <a:fld id="{50BF5611-0EAC-EE49-A74D-DA1AB1C67569}" type="slidenum">
              <a:rPr lang="en-US" smtClean="0"/>
              <a:t>‹#›</a:t>
            </a:fld>
            <a:endParaRPr lang="en-US"/>
          </a:p>
        </p:txBody>
      </p:sp>
    </p:spTree>
    <p:extLst>
      <p:ext uri="{BB962C8B-B14F-4D97-AF65-F5344CB8AC3E}">
        <p14:creationId xmlns:p14="http://schemas.microsoft.com/office/powerpoint/2010/main" val="91206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C766-BB10-18EA-B0A4-8BA5904B19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E972F1-7997-883C-6909-46E3108D07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CBD90-7E48-8E6D-1397-05A5E8D15014}"/>
              </a:ext>
            </a:extLst>
          </p:cNvPr>
          <p:cNvSpPr>
            <a:spLocks noGrp="1"/>
          </p:cNvSpPr>
          <p:nvPr>
            <p:ph type="dt" sz="half" idx="10"/>
          </p:nvPr>
        </p:nvSpPr>
        <p:spPr/>
        <p:txBody>
          <a:bodyPr/>
          <a:lstStyle/>
          <a:p>
            <a:fld id="{D5CEB927-DFA3-FC41-9B3C-17589CD78B98}" type="datetime1">
              <a:rPr lang="en-US" smtClean="0"/>
              <a:t>2/23/26</a:t>
            </a:fld>
            <a:endParaRPr lang="en-US"/>
          </a:p>
        </p:txBody>
      </p:sp>
      <p:sp>
        <p:nvSpPr>
          <p:cNvPr id="5" name="Footer Placeholder 4">
            <a:extLst>
              <a:ext uri="{FF2B5EF4-FFF2-40B4-BE49-F238E27FC236}">
                <a16:creationId xmlns:a16="http://schemas.microsoft.com/office/drawing/2014/main" id="{13EF8268-12F2-50F8-E00C-039CB28BCF03}"/>
              </a:ext>
            </a:extLst>
          </p:cNvPr>
          <p:cNvSpPr>
            <a:spLocks noGrp="1"/>
          </p:cNvSpPr>
          <p:nvPr>
            <p:ph type="ftr" sz="quarter" idx="11"/>
          </p:nvPr>
        </p:nvSpPr>
        <p:spPr/>
        <p:txBody>
          <a:bodyPr/>
          <a:lstStyle/>
          <a:p>
            <a:r>
              <a:rPr lang="en-US"/>
              <a:t>DV2638 – Machine Learning</a:t>
            </a:r>
          </a:p>
        </p:txBody>
      </p:sp>
      <p:sp>
        <p:nvSpPr>
          <p:cNvPr id="6" name="Slide Number Placeholder 5">
            <a:extLst>
              <a:ext uri="{FF2B5EF4-FFF2-40B4-BE49-F238E27FC236}">
                <a16:creationId xmlns:a16="http://schemas.microsoft.com/office/drawing/2014/main" id="{62B28D92-F7D2-3B97-5E69-FA54520C89BE}"/>
              </a:ext>
            </a:extLst>
          </p:cNvPr>
          <p:cNvSpPr>
            <a:spLocks noGrp="1"/>
          </p:cNvSpPr>
          <p:nvPr>
            <p:ph type="sldNum" sz="quarter" idx="12"/>
          </p:nvPr>
        </p:nvSpPr>
        <p:spPr/>
        <p:txBody>
          <a:bodyPr/>
          <a:lstStyle/>
          <a:p>
            <a:fld id="{50BF5611-0EAC-EE49-A74D-DA1AB1C67569}" type="slidenum">
              <a:rPr lang="en-US" smtClean="0"/>
              <a:t>‹#›</a:t>
            </a:fld>
            <a:endParaRPr lang="en-US"/>
          </a:p>
        </p:txBody>
      </p:sp>
    </p:spTree>
    <p:extLst>
      <p:ext uri="{BB962C8B-B14F-4D97-AF65-F5344CB8AC3E}">
        <p14:creationId xmlns:p14="http://schemas.microsoft.com/office/powerpoint/2010/main" val="305504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8AB22-A347-A01F-E638-4421874678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662097-7BD8-C497-224A-0BE051541D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21B35B-F1EA-65FD-886B-FFA7F4B9CF79}"/>
              </a:ext>
            </a:extLst>
          </p:cNvPr>
          <p:cNvSpPr>
            <a:spLocks noGrp="1"/>
          </p:cNvSpPr>
          <p:nvPr>
            <p:ph type="dt" sz="half" idx="10"/>
          </p:nvPr>
        </p:nvSpPr>
        <p:spPr/>
        <p:txBody>
          <a:bodyPr/>
          <a:lstStyle/>
          <a:p>
            <a:fld id="{32298161-F13C-AA4F-88F6-54860E4DEBC8}" type="datetime1">
              <a:rPr lang="en-US" smtClean="0"/>
              <a:t>2/23/26</a:t>
            </a:fld>
            <a:endParaRPr lang="en-US"/>
          </a:p>
        </p:txBody>
      </p:sp>
      <p:sp>
        <p:nvSpPr>
          <p:cNvPr id="5" name="Footer Placeholder 4">
            <a:extLst>
              <a:ext uri="{FF2B5EF4-FFF2-40B4-BE49-F238E27FC236}">
                <a16:creationId xmlns:a16="http://schemas.microsoft.com/office/drawing/2014/main" id="{22ADC2CF-77FF-0AA4-D71C-2391D0326C9A}"/>
              </a:ext>
            </a:extLst>
          </p:cNvPr>
          <p:cNvSpPr>
            <a:spLocks noGrp="1"/>
          </p:cNvSpPr>
          <p:nvPr>
            <p:ph type="ftr" sz="quarter" idx="11"/>
          </p:nvPr>
        </p:nvSpPr>
        <p:spPr/>
        <p:txBody>
          <a:bodyPr/>
          <a:lstStyle/>
          <a:p>
            <a:r>
              <a:rPr lang="en-US"/>
              <a:t>DV2638 – Machine Learning</a:t>
            </a:r>
          </a:p>
        </p:txBody>
      </p:sp>
      <p:sp>
        <p:nvSpPr>
          <p:cNvPr id="6" name="Slide Number Placeholder 5">
            <a:extLst>
              <a:ext uri="{FF2B5EF4-FFF2-40B4-BE49-F238E27FC236}">
                <a16:creationId xmlns:a16="http://schemas.microsoft.com/office/drawing/2014/main" id="{D2C56D0A-577D-E172-8B8A-44E9E23DF455}"/>
              </a:ext>
            </a:extLst>
          </p:cNvPr>
          <p:cNvSpPr>
            <a:spLocks noGrp="1"/>
          </p:cNvSpPr>
          <p:nvPr>
            <p:ph type="sldNum" sz="quarter" idx="12"/>
          </p:nvPr>
        </p:nvSpPr>
        <p:spPr/>
        <p:txBody>
          <a:bodyPr/>
          <a:lstStyle/>
          <a:p>
            <a:fld id="{50BF5611-0EAC-EE49-A74D-DA1AB1C67569}" type="slidenum">
              <a:rPr lang="en-US" smtClean="0"/>
              <a:t>‹#›</a:t>
            </a:fld>
            <a:endParaRPr lang="en-US"/>
          </a:p>
        </p:txBody>
      </p:sp>
    </p:spTree>
    <p:extLst>
      <p:ext uri="{BB962C8B-B14F-4D97-AF65-F5344CB8AC3E}">
        <p14:creationId xmlns:p14="http://schemas.microsoft.com/office/powerpoint/2010/main" val="485946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224F-C484-DCD6-B035-D0BBB7D021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21FAFB-FAFC-C66A-A37D-1B7D677F83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FCAC9D-699D-A907-57CD-ED19D5EC63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2F9DF6-D024-BF58-1BFE-931E1FBFBE63}"/>
              </a:ext>
            </a:extLst>
          </p:cNvPr>
          <p:cNvSpPr>
            <a:spLocks noGrp="1"/>
          </p:cNvSpPr>
          <p:nvPr>
            <p:ph type="dt" sz="half" idx="10"/>
          </p:nvPr>
        </p:nvSpPr>
        <p:spPr/>
        <p:txBody>
          <a:bodyPr/>
          <a:lstStyle/>
          <a:p>
            <a:fld id="{182776D6-930B-E242-8D9B-7A855EE7F2F9}" type="datetime1">
              <a:rPr lang="en-US" smtClean="0"/>
              <a:t>2/23/26</a:t>
            </a:fld>
            <a:endParaRPr lang="en-US"/>
          </a:p>
        </p:txBody>
      </p:sp>
      <p:sp>
        <p:nvSpPr>
          <p:cNvPr id="6" name="Footer Placeholder 5">
            <a:extLst>
              <a:ext uri="{FF2B5EF4-FFF2-40B4-BE49-F238E27FC236}">
                <a16:creationId xmlns:a16="http://schemas.microsoft.com/office/drawing/2014/main" id="{F604CD52-E314-F09C-8A91-16574C6D2B30}"/>
              </a:ext>
            </a:extLst>
          </p:cNvPr>
          <p:cNvSpPr>
            <a:spLocks noGrp="1"/>
          </p:cNvSpPr>
          <p:nvPr>
            <p:ph type="ftr" sz="quarter" idx="11"/>
          </p:nvPr>
        </p:nvSpPr>
        <p:spPr/>
        <p:txBody>
          <a:bodyPr/>
          <a:lstStyle/>
          <a:p>
            <a:r>
              <a:rPr lang="en-US"/>
              <a:t>DV2638 – Machine Learning</a:t>
            </a:r>
          </a:p>
        </p:txBody>
      </p:sp>
      <p:sp>
        <p:nvSpPr>
          <p:cNvPr id="7" name="Slide Number Placeholder 6">
            <a:extLst>
              <a:ext uri="{FF2B5EF4-FFF2-40B4-BE49-F238E27FC236}">
                <a16:creationId xmlns:a16="http://schemas.microsoft.com/office/drawing/2014/main" id="{F7B99A3C-005C-2675-CF23-53D7E3BBCBDB}"/>
              </a:ext>
            </a:extLst>
          </p:cNvPr>
          <p:cNvSpPr>
            <a:spLocks noGrp="1"/>
          </p:cNvSpPr>
          <p:nvPr>
            <p:ph type="sldNum" sz="quarter" idx="12"/>
          </p:nvPr>
        </p:nvSpPr>
        <p:spPr/>
        <p:txBody>
          <a:bodyPr/>
          <a:lstStyle/>
          <a:p>
            <a:fld id="{50BF5611-0EAC-EE49-A74D-DA1AB1C67569}" type="slidenum">
              <a:rPr lang="en-US" smtClean="0"/>
              <a:t>‹#›</a:t>
            </a:fld>
            <a:endParaRPr lang="en-US"/>
          </a:p>
        </p:txBody>
      </p:sp>
    </p:spTree>
    <p:extLst>
      <p:ext uri="{BB962C8B-B14F-4D97-AF65-F5344CB8AC3E}">
        <p14:creationId xmlns:p14="http://schemas.microsoft.com/office/powerpoint/2010/main" val="4037508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781A3-A74F-0873-B27C-577D654275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0EAF43-37C7-E44B-E52E-792EC45FF5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F2F033-499B-0C5F-0937-222149F2BD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0B8856-E484-B7F6-BE7B-F09629B732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7E5769-8780-7E19-B8B1-273D410AAB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AC1062-E965-6826-BED0-CC9A02969662}"/>
              </a:ext>
            </a:extLst>
          </p:cNvPr>
          <p:cNvSpPr>
            <a:spLocks noGrp="1"/>
          </p:cNvSpPr>
          <p:nvPr>
            <p:ph type="dt" sz="half" idx="10"/>
          </p:nvPr>
        </p:nvSpPr>
        <p:spPr/>
        <p:txBody>
          <a:bodyPr/>
          <a:lstStyle/>
          <a:p>
            <a:fld id="{E61434F5-35BD-BA46-B264-0BCCE78EC8F0}" type="datetime1">
              <a:rPr lang="en-US" smtClean="0"/>
              <a:t>2/23/26</a:t>
            </a:fld>
            <a:endParaRPr lang="en-US"/>
          </a:p>
        </p:txBody>
      </p:sp>
      <p:sp>
        <p:nvSpPr>
          <p:cNvPr id="8" name="Footer Placeholder 7">
            <a:extLst>
              <a:ext uri="{FF2B5EF4-FFF2-40B4-BE49-F238E27FC236}">
                <a16:creationId xmlns:a16="http://schemas.microsoft.com/office/drawing/2014/main" id="{D6F7ACE4-6D55-957F-D495-438B3B973714}"/>
              </a:ext>
            </a:extLst>
          </p:cNvPr>
          <p:cNvSpPr>
            <a:spLocks noGrp="1"/>
          </p:cNvSpPr>
          <p:nvPr>
            <p:ph type="ftr" sz="quarter" idx="11"/>
          </p:nvPr>
        </p:nvSpPr>
        <p:spPr/>
        <p:txBody>
          <a:bodyPr/>
          <a:lstStyle/>
          <a:p>
            <a:r>
              <a:rPr lang="en-US"/>
              <a:t>DV2638 – Machine Learning</a:t>
            </a:r>
          </a:p>
        </p:txBody>
      </p:sp>
      <p:sp>
        <p:nvSpPr>
          <p:cNvPr id="9" name="Slide Number Placeholder 8">
            <a:extLst>
              <a:ext uri="{FF2B5EF4-FFF2-40B4-BE49-F238E27FC236}">
                <a16:creationId xmlns:a16="http://schemas.microsoft.com/office/drawing/2014/main" id="{60EC957A-DD55-A472-A588-890D961C268C}"/>
              </a:ext>
            </a:extLst>
          </p:cNvPr>
          <p:cNvSpPr>
            <a:spLocks noGrp="1"/>
          </p:cNvSpPr>
          <p:nvPr>
            <p:ph type="sldNum" sz="quarter" idx="12"/>
          </p:nvPr>
        </p:nvSpPr>
        <p:spPr/>
        <p:txBody>
          <a:bodyPr/>
          <a:lstStyle/>
          <a:p>
            <a:fld id="{50BF5611-0EAC-EE49-A74D-DA1AB1C67569}" type="slidenum">
              <a:rPr lang="en-US" smtClean="0"/>
              <a:t>‹#›</a:t>
            </a:fld>
            <a:endParaRPr lang="en-US"/>
          </a:p>
        </p:txBody>
      </p:sp>
    </p:spTree>
    <p:extLst>
      <p:ext uri="{BB962C8B-B14F-4D97-AF65-F5344CB8AC3E}">
        <p14:creationId xmlns:p14="http://schemas.microsoft.com/office/powerpoint/2010/main" val="1277844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2DA4A-2E5E-A3BC-6768-3FF4C49882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2123BA-95FA-5406-B344-62809BE725DD}"/>
              </a:ext>
            </a:extLst>
          </p:cNvPr>
          <p:cNvSpPr>
            <a:spLocks noGrp="1"/>
          </p:cNvSpPr>
          <p:nvPr>
            <p:ph type="dt" sz="half" idx="10"/>
          </p:nvPr>
        </p:nvSpPr>
        <p:spPr/>
        <p:txBody>
          <a:bodyPr/>
          <a:lstStyle/>
          <a:p>
            <a:fld id="{A2ACEB88-30F6-3342-9778-74EC9500C542}" type="datetime1">
              <a:rPr lang="en-US" smtClean="0"/>
              <a:t>2/23/26</a:t>
            </a:fld>
            <a:endParaRPr lang="en-US"/>
          </a:p>
        </p:txBody>
      </p:sp>
      <p:sp>
        <p:nvSpPr>
          <p:cNvPr id="4" name="Footer Placeholder 3">
            <a:extLst>
              <a:ext uri="{FF2B5EF4-FFF2-40B4-BE49-F238E27FC236}">
                <a16:creationId xmlns:a16="http://schemas.microsoft.com/office/drawing/2014/main" id="{7CA30E29-8976-4F9A-AF35-D2B0D8904C19}"/>
              </a:ext>
            </a:extLst>
          </p:cNvPr>
          <p:cNvSpPr>
            <a:spLocks noGrp="1"/>
          </p:cNvSpPr>
          <p:nvPr>
            <p:ph type="ftr" sz="quarter" idx="11"/>
          </p:nvPr>
        </p:nvSpPr>
        <p:spPr/>
        <p:txBody>
          <a:bodyPr/>
          <a:lstStyle/>
          <a:p>
            <a:r>
              <a:rPr lang="en-US"/>
              <a:t>DV2638 – Machine Learning</a:t>
            </a:r>
          </a:p>
        </p:txBody>
      </p:sp>
      <p:sp>
        <p:nvSpPr>
          <p:cNvPr id="5" name="Slide Number Placeholder 4">
            <a:extLst>
              <a:ext uri="{FF2B5EF4-FFF2-40B4-BE49-F238E27FC236}">
                <a16:creationId xmlns:a16="http://schemas.microsoft.com/office/drawing/2014/main" id="{2A150DF8-D966-D6A1-FFA6-620949017258}"/>
              </a:ext>
            </a:extLst>
          </p:cNvPr>
          <p:cNvSpPr>
            <a:spLocks noGrp="1"/>
          </p:cNvSpPr>
          <p:nvPr>
            <p:ph type="sldNum" sz="quarter" idx="12"/>
          </p:nvPr>
        </p:nvSpPr>
        <p:spPr/>
        <p:txBody>
          <a:bodyPr/>
          <a:lstStyle/>
          <a:p>
            <a:fld id="{50BF5611-0EAC-EE49-A74D-DA1AB1C67569}" type="slidenum">
              <a:rPr lang="en-US" smtClean="0"/>
              <a:t>‹#›</a:t>
            </a:fld>
            <a:endParaRPr lang="en-US"/>
          </a:p>
        </p:txBody>
      </p:sp>
    </p:spTree>
    <p:extLst>
      <p:ext uri="{BB962C8B-B14F-4D97-AF65-F5344CB8AC3E}">
        <p14:creationId xmlns:p14="http://schemas.microsoft.com/office/powerpoint/2010/main" val="1574049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FEF0F9-220D-B7F6-3F99-D83474C97B34}"/>
              </a:ext>
            </a:extLst>
          </p:cNvPr>
          <p:cNvSpPr>
            <a:spLocks noGrp="1"/>
          </p:cNvSpPr>
          <p:nvPr>
            <p:ph type="dt" sz="half" idx="10"/>
          </p:nvPr>
        </p:nvSpPr>
        <p:spPr/>
        <p:txBody>
          <a:bodyPr/>
          <a:lstStyle/>
          <a:p>
            <a:fld id="{A0D59428-80DC-0642-BAF8-097A472512E9}" type="datetime1">
              <a:rPr lang="en-US" smtClean="0"/>
              <a:t>2/23/26</a:t>
            </a:fld>
            <a:endParaRPr lang="en-US"/>
          </a:p>
        </p:txBody>
      </p:sp>
      <p:sp>
        <p:nvSpPr>
          <p:cNvPr id="3" name="Footer Placeholder 2">
            <a:extLst>
              <a:ext uri="{FF2B5EF4-FFF2-40B4-BE49-F238E27FC236}">
                <a16:creationId xmlns:a16="http://schemas.microsoft.com/office/drawing/2014/main" id="{52F99BD8-8723-1E83-1B1B-5672E6DB7872}"/>
              </a:ext>
            </a:extLst>
          </p:cNvPr>
          <p:cNvSpPr>
            <a:spLocks noGrp="1"/>
          </p:cNvSpPr>
          <p:nvPr>
            <p:ph type="ftr" sz="quarter" idx="11"/>
          </p:nvPr>
        </p:nvSpPr>
        <p:spPr/>
        <p:txBody>
          <a:bodyPr/>
          <a:lstStyle/>
          <a:p>
            <a:r>
              <a:rPr lang="en-US"/>
              <a:t>DV2638 – Machine Learning</a:t>
            </a:r>
          </a:p>
        </p:txBody>
      </p:sp>
      <p:sp>
        <p:nvSpPr>
          <p:cNvPr id="4" name="Slide Number Placeholder 3">
            <a:extLst>
              <a:ext uri="{FF2B5EF4-FFF2-40B4-BE49-F238E27FC236}">
                <a16:creationId xmlns:a16="http://schemas.microsoft.com/office/drawing/2014/main" id="{FBA0C297-06F8-DE5D-1D45-6483794F08C6}"/>
              </a:ext>
            </a:extLst>
          </p:cNvPr>
          <p:cNvSpPr>
            <a:spLocks noGrp="1"/>
          </p:cNvSpPr>
          <p:nvPr>
            <p:ph type="sldNum" sz="quarter" idx="12"/>
          </p:nvPr>
        </p:nvSpPr>
        <p:spPr/>
        <p:txBody>
          <a:bodyPr/>
          <a:lstStyle/>
          <a:p>
            <a:fld id="{50BF5611-0EAC-EE49-A74D-DA1AB1C67569}" type="slidenum">
              <a:rPr lang="en-US" smtClean="0"/>
              <a:t>‹#›</a:t>
            </a:fld>
            <a:endParaRPr lang="en-US"/>
          </a:p>
        </p:txBody>
      </p:sp>
    </p:spTree>
    <p:extLst>
      <p:ext uri="{BB962C8B-B14F-4D97-AF65-F5344CB8AC3E}">
        <p14:creationId xmlns:p14="http://schemas.microsoft.com/office/powerpoint/2010/main" val="4196987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A98CD-F911-9113-E2CC-BE4164D2D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A6A9F3-0668-01EB-0DAD-E94D202AF5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0D2AF1-9007-F115-4022-42C06E30D8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DFED22-F8A8-E85E-3F2B-F4027C230453}"/>
              </a:ext>
            </a:extLst>
          </p:cNvPr>
          <p:cNvSpPr>
            <a:spLocks noGrp="1"/>
          </p:cNvSpPr>
          <p:nvPr>
            <p:ph type="dt" sz="half" idx="10"/>
          </p:nvPr>
        </p:nvSpPr>
        <p:spPr/>
        <p:txBody>
          <a:bodyPr/>
          <a:lstStyle/>
          <a:p>
            <a:fld id="{191DCF94-746B-BA4B-B606-E235C7CBE1F5}" type="datetime1">
              <a:rPr lang="en-US" smtClean="0"/>
              <a:t>2/23/26</a:t>
            </a:fld>
            <a:endParaRPr lang="en-US"/>
          </a:p>
        </p:txBody>
      </p:sp>
      <p:sp>
        <p:nvSpPr>
          <p:cNvPr id="6" name="Footer Placeholder 5">
            <a:extLst>
              <a:ext uri="{FF2B5EF4-FFF2-40B4-BE49-F238E27FC236}">
                <a16:creationId xmlns:a16="http://schemas.microsoft.com/office/drawing/2014/main" id="{EB7C42A1-AAFD-7DE2-B1CE-5753D9D61388}"/>
              </a:ext>
            </a:extLst>
          </p:cNvPr>
          <p:cNvSpPr>
            <a:spLocks noGrp="1"/>
          </p:cNvSpPr>
          <p:nvPr>
            <p:ph type="ftr" sz="quarter" idx="11"/>
          </p:nvPr>
        </p:nvSpPr>
        <p:spPr/>
        <p:txBody>
          <a:bodyPr/>
          <a:lstStyle/>
          <a:p>
            <a:r>
              <a:rPr lang="en-US"/>
              <a:t>DV2638 – Machine Learning</a:t>
            </a:r>
          </a:p>
        </p:txBody>
      </p:sp>
      <p:sp>
        <p:nvSpPr>
          <p:cNvPr id="7" name="Slide Number Placeholder 6">
            <a:extLst>
              <a:ext uri="{FF2B5EF4-FFF2-40B4-BE49-F238E27FC236}">
                <a16:creationId xmlns:a16="http://schemas.microsoft.com/office/drawing/2014/main" id="{3F0024E0-74EF-A1CE-ABF5-B98225925CB1}"/>
              </a:ext>
            </a:extLst>
          </p:cNvPr>
          <p:cNvSpPr>
            <a:spLocks noGrp="1"/>
          </p:cNvSpPr>
          <p:nvPr>
            <p:ph type="sldNum" sz="quarter" idx="12"/>
          </p:nvPr>
        </p:nvSpPr>
        <p:spPr/>
        <p:txBody>
          <a:bodyPr/>
          <a:lstStyle/>
          <a:p>
            <a:fld id="{50BF5611-0EAC-EE49-A74D-DA1AB1C67569}" type="slidenum">
              <a:rPr lang="en-US" smtClean="0"/>
              <a:t>‹#›</a:t>
            </a:fld>
            <a:endParaRPr lang="en-US"/>
          </a:p>
        </p:txBody>
      </p:sp>
    </p:spTree>
    <p:extLst>
      <p:ext uri="{BB962C8B-B14F-4D97-AF65-F5344CB8AC3E}">
        <p14:creationId xmlns:p14="http://schemas.microsoft.com/office/powerpoint/2010/main" val="204216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87854-9C4F-E6AD-F61F-C3EA32247C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B4BD74-C30F-15F0-96DD-1A95463A17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453734-8102-8EF1-4A0F-9C2C0CD977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6DEEB0-EBE8-D5E1-A4F9-E36DA2229A8E}"/>
              </a:ext>
            </a:extLst>
          </p:cNvPr>
          <p:cNvSpPr>
            <a:spLocks noGrp="1"/>
          </p:cNvSpPr>
          <p:nvPr>
            <p:ph type="dt" sz="half" idx="10"/>
          </p:nvPr>
        </p:nvSpPr>
        <p:spPr/>
        <p:txBody>
          <a:bodyPr/>
          <a:lstStyle/>
          <a:p>
            <a:fld id="{4B8C0948-E7FA-F242-9CF2-93334B5A9D3E}" type="datetime1">
              <a:rPr lang="en-US" smtClean="0"/>
              <a:t>2/23/26</a:t>
            </a:fld>
            <a:endParaRPr lang="en-US"/>
          </a:p>
        </p:txBody>
      </p:sp>
      <p:sp>
        <p:nvSpPr>
          <p:cNvPr id="6" name="Footer Placeholder 5">
            <a:extLst>
              <a:ext uri="{FF2B5EF4-FFF2-40B4-BE49-F238E27FC236}">
                <a16:creationId xmlns:a16="http://schemas.microsoft.com/office/drawing/2014/main" id="{64D4C23E-0402-3A93-79BF-3DD96E1EF07E}"/>
              </a:ext>
            </a:extLst>
          </p:cNvPr>
          <p:cNvSpPr>
            <a:spLocks noGrp="1"/>
          </p:cNvSpPr>
          <p:nvPr>
            <p:ph type="ftr" sz="quarter" idx="11"/>
          </p:nvPr>
        </p:nvSpPr>
        <p:spPr/>
        <p:txBody>
          <a:bodyPr/>
          <a:lstStyle/>
          <a:p>
            <a:r>
              <a:rPr lang="en-US"/>
              <a:t>DV2638 – Machine Learning</a:t>
            </a:r>
          </a:p>
        </p:txBody>
      </p:sp>
      <p:sp>
        <p:nvSpPr>
          <p:cNvPr id="7" name="Slide Number Placeholder 6">
            <a:extLst>
              <a:ext uri="{FF2B5EF4-FFF2-40B4-BE49-F238E27FC236}">
                <a16:creationId xmlns:a16="http://schemas.microsoft.com/office/drawing/2014/main" id="{72200960-430D-E53D-2102-B43A640FB453}"/>
              </a:ext>
            </a:extLst>
          </p:cNvPr>
          <p:cNvSpPr>
            <a:spLocks noGrp="1"/>
          </p:cNvSpPr>
          <p:nvPr>
            <p:ph type="sldNum" sz="quarter" idx="12"/>
          </p:nvPr>
        </p:nvSpPr>
        <p:spPr/>
        <p:txBody>
          <a:bodyPr/>
          <a:lstStyle/>
          <a:p>
            <a:fld id="{50BF5611-0EAC-EE49-A74D-DA1AB1C67569}" type="slidenum">
              <a:rPr lang="en-US" smtClean="0"/>
              <a:t>‹#›</a:t>
            </a:fld>
            <a:endParaRPr lang="en-US"/>
          </a:p>
        </p:txBody>
      </p:sp>
    </p:spTree>
    <p:extLst>
      <p:ext uri="{BB962C8B-B14F-4D97-AF65-F5344CB8AC3E}">
        <p14:creationId xmlns:p14="http://schemas.microsoft.com/office/powerpoint/2010/main" val="492886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0D9AB-3407-E2D9-ED0B-6B64FC7D1D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21BE96-9491-318A-0D92-A343731824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F03F7A-6CE8-20CE-336B-48DB24AE08F6}"/>
              </a:ext>
            </a:extLst>
          </p:cNvPr>
          <p:cNvSpPr>
            <a:spLocks noGrp="1"/>
          </p:cNvSpPr>
          <p:nvPr>
            <p:ph type="dt" sz="half" idx="10"/>
          </p:nvPr>
        </p:nvSpPr>
        <p:spPr/>
        <p:txBody>
          <a:bodyPr/>
          <a:lstStyle/>
          <a:p>
            <a:fld id="{87C1C2E0-BC47-E04C-9B24-859F4D3CD8B2}" type="datetime1">
              <a:rPr lang="en-US" smtClean="0"/>
              <a:t>2/23/26</a:t>
            </a:fld>
            <a:endParaRPr lang="en-US"/>
          </a:p>
        </p:txBody>
      </p:sp>
      <p:sp>
        <p:nvSpPr>
          <p:cNvPr id="5" name="Footer Placeholder 4">
            <a:extLst>
              <a:ext uri="{FF2B5EF4-FFF2-40B4-BE49-F238E27FC236}">
                <a16:creationId xmlns:a16="http://schemas.microsoft.com/office/drawing/2014/main" id="{1EED2AF6-71EF-739A-4C38-0A6AC0189685}"/>
              </a:ext>
            </a:extLst>
          </p:cNvPr>
          <p:cNvSpPr>
            <a:spLocks noGrp="1"/>
          </p:cNvSpPr>
          <p:nvPr>
            <p:ph type="ftr" sz="quarter" idx="11"/>
          </p:nvPr>
        </p:nvSpPr>
        <p:spPr/>
        <p:txBody>
          <a:bodyPr/>
          <a:lstStyle/>
          <a:p>
            <a:r>
              <a:rPr lang="en-US"/>
              <a:t>DV2638 – Machine Learning</a:t>
            </a:r>
          </a:p>
        </p:txBody>
      </p:sp>
      <p:sp>
        <p:nvSpPr>
          <p:cNvPr id="6" name="Slide Number Placeholder 5">
            <a:extLst>
              <a:ext uri="{FF2B5EF4-FFF2-40B4-BE49-F238E27FC236}">
                <a16:creationId xmlns:a16="http://schemas.microsoft.com/office/drawing/2014/main" id="{393D2751-95DC-601A-808D-014531173770}"/>
              </a:ext>
            </a:extLst>
          </p:cNvPr>
          <p:cNvSpPr>
            <a:spLocks noGrp="1"/>
          </p:cNvSpPr>
          <p:nvPr>
            <p:ph type="sldNum" sz="quarter" idx="12"/>
          </p:nvPr>
        </p:nvSpPr>
        <p:spPr/>
        <p:txBody>
          <a:bodyPr/>
          <a:lstStyle/>
          <a:p>
            <a:fld id="{50BF5611-0EAC-EE49-A74D-DA1AB1C67569}" type="slidenum">
              <a:rPr lang="en-US" smtClean="0"/>
              <a:t>‹#›</a:t>
            </a:fld>
            <a:endParaRPr lang="en-US"/>
          </a:p>
        </p:txBody>
      </p:sp>
    </p:spTree>
    <p:extLst>
      <p:ext uri="{BB962C8B-B14F-4D97-AF65-F5344CB8AC3E}">
        <p14:creationId xmlns:p14="http://schemas.microsoft.com/office/powerpoint/2010/main" val="816922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305C3-6CA5-6EBE-E2CB-F8321E9E24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DF4185-E17D-C073-0214-C8DDEDC981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1267FB-60AF-2BC3-A859-80E2AD8B4130}"/>
              </a:ext>
            </a:extLst>
          </p:cNvPr>
          <p:cNvSpPr>
            <a:spLocks noGrp="1"/>
          </p:cNvSpPr>
          <p:nvPr>
            <p:ph type="dt" sz="half" idx="10"/>
          </p:nvPr>
        </p:nvSpPr>
        <p:spPr/>
        <p:txBody>
          <a:bodyPr/>
          <a:lstStyle/>
          <a:p>
            <a:fld id="{5871CF90-A454-A84E-8449-7EBF80EA6F1D}" type="datetime1">
              <a:rPr lang="en-US" smtClean="0"/>
              <a:t>2/23/26</a:t>
            </a:fld>
            <a:endParaRPr lang="en-US"/>
          </a:p>
        </p:txBody>
      </p:sp>
      <p:sp>
        <p:nvSpPr>
          <p:cNvPr id="5" name="Footer Placeholder 4">
            <a:extLst>
              <a:ext uri="{FF2B5EF4-FFF2-40B4-BE49-F238E27FC236}">
                <a16:creationId xmlns:a16="http://schemas.microsoft.com/office/drawing/2014/main" id="{50878087-8C98-CBFB-338F-0D97A20AEFA8}"/>
              </a:ext>
            </a:extLst>
          </p:cNvPr>
          <p:cNvSpPr>
            <a:spLocks noGrp="1"/>
          </p:cNvSpPr>
          <p:nvPr>
            <p:ph type="ftr" sz="quarter" idx="11"/>
          </p:nvPr>
        </p:nvSpPr>
        <p:spPr/>
        <p:txBody>
          <a:bodyPr/>
          <a:lstStyle/>
          <a:p>
            <a:r>
              <a:rPr lang="en-US"/>
              <a:t>DV2638 – Machine Learning</a:t>
            </a:r>
          </a:p>
        </p:txBody>
      </p:sp>
      <p:sp>
        <p:nvSpPr>
          <p:cNvPr id="6" name="Slide Number Placeholder 5">
            <a:extLst>
              <a:ext uri="{FF2B5EF4-FFF2-40B4-BE49-F238E27FC236}">
                <a16:creationId xmlns:a16="http://schemas.microsoft.com/office/drawing/2014/main" id="{7CF4B67F-6E3B-9FBD-D1B9-4EE8BDDF7E24}"/>
              </a:ext>
            </a:extLst>
          </p:cNvPr>
          <p:cNvSpPr>
            <a:spLocks noGrp="1"/>
          </p:cNvSpPr>
          <p:nvPr>
            <p:ph type="sldNum" sz="quarter" idx="12"/>
          </p:nvPr>
        </p:nvSpPr>
        <p:spPr/>
        <p:txBody>
          <a:bodyPr/>
          <a:lstStyle/>
          <a:p>
            <a:fld id="{50BF5611-0EAC-EE49-A74D-DA1AB1C67569}" type="slidenum">
              <a:rPr lang="en-US" smtClean="0"/>
              <a:t>‹#›</a:t>
            </a:fld>
            <a:endParaRPr lang="en-US"/>
          </a:p>
        </p:txBody>
      </p:sp>
    </p:spTree>
    <p:extLst>
      <p:ext uri="{BB962C8B-B14F-4D97-AF65-F5344CB8AC3E}">
        <p14:creationId xmlns:p14="http://schemas.microsoft.com/office/powerpoint/2010/main" val="503768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50C1E9-73A5-0B19-207F-0B4CDEAC75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F7C819-7FDE-8C7E-6225-38E8950F8A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82899-50BE-A90D-7131-58889326DE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893C88-7A6A-3840-B90D-CD1B4986E77C}" type="datetime1">
              <a:rPr lang="en-US" smtClean="0"/>
              <a:t>2/23/26</a:t>
            </a:fld>
            <a:endParaRPr lang="en-US"/>
          </a:p>
        </p:txBody>
      </p:sp>
      <p:sp>
        <p:nvSpPr>
          <p:cNvPr id="5" name="Footer Placeholder 4">
            <a:extLst>
              <a:ext uri="{FF2B5EF4-FFF2-40B4-BE49-F238E27FC236}">
                <a16:creationId xmlns:a16="http://schemas.microsoft.com/office/drawing/2014/main" id="{CFDDD957-62F9-C794-321C-4612BA4543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DV2638 – Machine Learning</a:t>
            </a:r>
          </a:p>
        </p:txBody>
      </p:sp>
      <p:sp>
        <p:nvSpPr>
          <p:cNvPr id="6" name="Slide Number Placeholder 5">
            <a:extLst>
              <a:ext uri="{FF2B5EF4-FFF2-40B4-BE49-F238E27FC236}">
                <a16:creationId xmlns:a16="http://schemas.microsoft.com/office/drawing/2014/main" id="{E1C2DA5E-A8D7-49B1-A5E2-F3D7C7D9FA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BF5611-0EAC-EE49-A74D-DA1AB1C67569}" type="slidenum">
              <a:rPr lang="en-US" smtClean="0"/>
              <a:t>‹#›</a:t>
            </a:fld>
            <a:endParaRPr lang="en-US"/>
          </a:p>
        </p:txBody>
      </p:sp>
    </p:spTree>
    <p:extLst>
      <p:ext uri="{BB962C8B-B14F-4D97-AF65-F5344CB8AC3E}">
        <p14:creationId xmlns:p14="http://schemas.microsoft.com/office/powerpoint/2010/main" val="792364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Blekinge Tekniska Högskola – tema.storynews.se">
            <a:extLst>
              <a:ext uri="{FF2B5EF4-FFF2-40B4-BE49-F238E27FC236}">
                <a16:creationId xmlns:a16="http://schemas.microsoft.com/office/drawing/2014/main" id="{6D7BDA2D-8117-9691-2B91-29863463D5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14375"/>
            <a:ext cx="12192000" cy="542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09655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04" name="Rectangle 210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520386-E68F-749A-4FAA-4543ABE36C1F}"/>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2600" b="1"/>
              <a:t>Gender-Based-Comparative-Analysis-of-Heart-Disease-Prediction-Models</a:t>
            </a:r>
            <a:br>
              <a:rPr lang="en-US" sz="2600" b="1"/>
            </a:br>
            <a:endParaRPr lang="en-US" sz="2600"/>
          </a:p>
        </p:txBody>
      </p:sp>
      <p:sp>
        <p:nvSpPr>
          <p:cNvPr id="210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B06FFACA-92D6-4B7F-8C3A-C29043A32F39}"/>
              </a:ext>
            </a:extLst>
          </p:cNvPr>
          <p:cNvSpPr>
            <a:spLocks noGrp="1"/>
          </p:cNvSpPr>
          <p:nvPr>
            <p:ph idx="1"/>
          </p:nvPr>
        </p:nvSpPr>
        <p:spPr>
          <a:xfrm>
            <a:off x="640080" y="2872899"/>
            <a:ext cx="4243589" cy="3320668"/>
          </a:xfrm>
        </p:spPr>
        <p:txBody>
          <a:bodyPr vert="horz" lIns="91440" tIns="45720" rIns="91440" bIns="45720" rtlCol="0">
            <a:normAutofit/>
          </a:bodyPr>
          <a:lstStyle/>
          <a:p>
            <a:r>
              <a:rPr lang="en-US" sz="2200"/>
              <a:t>Group No: 29</a:t>
            </a:r>
          </a:p>
          <a:p>
            <a:pPr lvl="1"/>
            <a:r>
              <a:rPr lang="en-US" sz="2200"/>
              <a:t>Muhammad Umair Akram Butt</a:t>
            </a:r>
          </a:p>
          <a:p>
            <a:r>
              <a:rPr lang="en-US" sz="2200"/>
              <a:t>Course Professor: Veselka Boeva</a:t>
            </a:r>
          </a:p>
        </p:txBody>
      </p:sp>
      <p:pic>
        <p:nvPicPr>
          <p:cNvPr id="3" name="Picture 2" descr="A red heart with veins&#10;&#10;AI-generated content may be incorrect.">
            <a:extLst>
              <a:ext uri="{FF2B5EF4-FFF2-40B4-BE49-F238E27FC236}">
                <a16:creationId xmlns:a16="http://schemas.microsoft.com/office/drawing/2014/main" id="{0F0F44F3-A796-00B9-D623-F082E8ADE414}"/>
              </a:ext>
            </a:extLst>
          </p:cNvPr>
          <p:cNvPicPr>
            <a:picLocks noChangeAspect="1"/>
          </p:cNvPicPr>
          <p:nvPr/>
        </p:nvPicPr>
        <p:blipFill>
          <a:blip r:embed="rId3"/>
          <a:srcRect t="11468" b="5534"/>
          <a:stretch>
            <a:fillRect/>
          </a:stretch>
        </p:blipFill>
        <p:spPr>
          <a:xfrm>
            <a:off x="5420871" y="328944"/>
            <a:ext cx="6480905" cy="6461322"/>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8" name="Footer Placeholder 7">
            <a:extLst>
              <a:ext uri="{FF2B5EF4-FFF2-40B4-BE49-F238E27FC236}">
                <a16:creationId xmlns:a16="http://schemas.microsoft.com/office/drawing/2014/main" id="{A270148A-B2B2-9DEF-42FE-E88926AC096E}"/>
              </a:ext>
            </a:extLst>
          </p:cNvPr>
          <p:cNvSpPr>
            <a:spLocks noGrp="1"/>
          </p:cNvSpPr>
          <p:nvPr>
            <p:ph type="ftr" sz="quarter" idx="11"/>
          </p:nvPr>
        </p:nvSpPr>
        <p:spPr>
          <a:xfrm>
            <a:off x="6248400" y="6356350"/>
            <a:ext cx="4114800" cy="365125"/>
          </a:xfrm>
        </p:spPr>
        <p:txBody>
          <a:bodyPr vert="horz" lIns="91440" tIns="45720" rIns="91440" bIns="45720" rtlCol="0">
            <a:normAutofit/>
          </a:bodyPr>
          <a:lstStyle/>
          <a:p>
            <a:pPr algn="l">
              <a:spcAft>
                <a:spcPts val="600"/>
              </a:spcAft>
              <a:defRPr/>
            </a:pPr>
            <a:r>
              <a:rPr lang="en-US" kern="1200">
                <a:solidFill>
                  <a:srgbClr val="FFFFFF"/>
                </a:solidFill>
                <a:latin typeface="Calibri" panose="020F0502020204030204"/>
                <a:ea typeface="+mn-ea"/>
                <a:cs typeface="+mn-cs"/>
              </a:rPr>
              <a:t>DV2638 – Machine Learning</a:t>
            </a:r>
          </a:p>
        </p:txBody>
      </p:sp>
      <p:sp>
        <p:nvSpPr>
          <p:cNvPr id="9" name="Slide Number Placeholder 8">
            <a:extLst>
              <a:ext uri="{FF2B5EF4-FFF2-40B4-BE49-F238E27FC236}">
                <a16:creationId xmlns:a16="http://schemas.microsoft.com/office/drawing/2014/main" id="{3C4D6FEA-B59D-D419-5BCF-71902CD2E2EC}"/>
              </a:ext>
            </a:extLst>
          </p:cNvPr>
          <p:cNvSpPr>
            <a:spLocks noGrp="1"/>
          </p:cNvSpPr>
          <p:nvPr>
            <p:ph type="sldNum" sz="quarter" idx="12"/>
          </p:nvPr>
        </p:nvSpPr>
        <p:spPr>
          <a:xfrm>
            <a:off x="10439400" y="6356350"/>
            <a:ext cx="914400" cy="365125"/>
          </a:xfrm>
        </p:spPr>
        <p:txBody>
          <a:bodyPr vert="horz" lIns="91440" tIns="45720" rIns="91440" bIns="45720" rtlCol="0">
            <a:normAutofit/>
          </a:bodyPr>
          <a:lstStyle/>
          <a:p>
            <a:pPr>
              <a:spcAft>
                <a:spcPts val="600"/>
              </a:spcAft>
              <a:defRPr/>
            </a:pPr>
            <a:fld id="{50BF5611-0EAC-EE49-A74D-DA1AB1C67569}" type="slidenum">
              <a:rPr lang="en-US">
                <a:solidFill>
                  <a:srgbClr val="FFFFFF"/>
                </a:solidFill>
                <a:latin typeface="Calibri" panose="020F0502020204030204"/>
              </a:rPr>
              <a:pPr>
                <a:spcAft>
                  <a:spcPts val="600"/>
                </a:spcAft>
                <a:defRPr/>
              </a:pPr>
              <a:t>2</a:t>
            </a:fld>
            <a:endParaRPr lang="en-US">
              <a:solidFill>
                <a:srgbClr val="FFFFFF"/>
              </a:solidFill>
              <a:latin typeface="Calibri" panose="020F0502020204030204"/>
            </a:endParaRPr>
          </a:p>
        </p:txBody>
      </p:sp>
    </p:spTree>
    <p:extLst>
      <p:ext uri="{BB962C8B-B14F-4D97-AF65-F5344CB8AC3E}">
        <p14:creationId xmlns:p14="http://schemas.microsoft.com/office/powerpoint/2010/main" val="240557276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1F3301-687B-0BD2-3E0A-FFF954D410C6}"/>
              </a:ext>
            </a:extLst>
          </p:cNvPr>
          <p:cNvSpPr>
            <a:spLocks noGrp="1"/>
          </p:cNvSpPr>
          <p:nvPr>
            <p:ph type="title"/>
          </p:nvPr>
        </p:nvSpPr>
        <p:spPr>
          <a:xfrm>
            <a:off x="630936" y="640080"/>
            <a:ext cx="4818888" cy="1481328"/>
          </a:xfrm>
        </p:spPr>
        <p:txBody>
          <a:bodyPr anchor="b">
            <a:normAutofit/>
          </a:bodyPr>
          <a:lstStyle/>
          <a:p>
            <a:r>
              <a:rPr lang="en-US" sz="5400" dirty="0"/>
              <a:t>Background</a:t>
            </a:r>
          </a:p>
        </p:txBody>
      </p:sp>
      <p:sp>
        <p:nvSpPr>
          <p:cNvPr id="308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42C8CBF-CD66-9F7A-282D-D5497AA4832E}"/>
              </a:ext>
            </a:extLst>
          </p:cNvPr>
          <p:cNvSpPr>
            <a:spLocks noGrp="1"/>
          </p:cNvSpPr>
          <p:nvPr>
            <p:ph idx="1"/>
          </p:nvPr>
        </p:nvSpPr>
        <p:spPr>
          <a:xfrm>
            <a:off x="630936" y="2660904"/>
            <a:ext cx="4818888" cy="3547872"/>
          </a:xfrm>
        </p:spPr>
        <p:txBody>
          <a:bodyPr anchor="t">
            <a:normAutofit/>
          </a:bodyPr>
          <a:lstStyle/>
          <a:p>
            <a:r>
              <a:rPr lang="en-US" dirty="0"/>
              <a:t>Cardiovascular Disease - heart's arteries narrow or become blocked.</a:t>
            </a:r>
          </a:p>
          <a:p>
            <a:r>
              <a:rPr lang="en-US" dirty="0"/>
              <a:t>19.8 million deaths in 2022 - 32% of all global deaths [1].</a:t>
            </a:r>
          </a:p>
          <a:p>
            <a:r>
              <a:rPr lang="en-US" dirty="0"/>
              <a:t>Timely prediction - preventive interventions.</a:t>
            </a:r>
          </a:p>
        </p:txBody>
      </p:sp>
      <p:pic>
        <p:nvPicPr>
          <p:cNvPr id="3074" name="Picture 2" descr="Coronary Artery Disease">
            <a:extLst>
              <a:ext uri="{FF2B5EF4-FFF2-40B4-BE49-F238E27FC236}">
                <a16:creationId xmlns:a16="http://schemas.microsoft.com/office/drawing/2014/main" id="{8431B881-8C5A-05FC-BAE7-8DF93344615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9048" y="1688955"/>
            <a:ext cx="5458968" cy="348009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7BA54455-9CC8-413F-30C9-504914595D4B}"/>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dirty="0"/>
              <a:t>DV2638 – Machine Learning</a:t>
            </a:r>
          </a:p>
        </p:txBody>
      </p:sp>
      <p:sp>
        <p:nvSpPr>
          <p:cNvPr id="5" name="Slide Number Placeholder 4">
            <a:extLst>
              <a:ext uri="{FF2B5EF4-FFF2-40B4-BE49-F238E27FC236}">
                <a16:creationId xmlns:a16="http://schemas.microsoft.com/office/drawing/2014/main" id="{CBF660F6-8AE3-85C5-FCAF-42A6A5CE6B38}"/>
              </a:ext>
            </a:extLst>
          </p:cNvPr>
          <p:cNvSpPr>
            <a:spLocks noGrp="1"/>
          </p:cNvSpPr>
          <p:nvPr>
            <p:ph type="sldNum" sz="quarter" idx="12"/>
          </p:nvPr>
        </p:nvSpPr>
        <p:spPr>
          <a:xfrm>
            <a:off x="8610600" y="6356350"/>
            <a:ext cx="2743200" cy="365125"/>
          </a:xfrm>
        </p:spPr>
        <p:txBody>
          <a:bodyPr>
            <a:normAutofit/>
          </a:bodyPr>
          <a:lstStyle/>
          <a:p>
            <a:pPr>
              <a:spcAft>
                <a:spcPts val="600"/>
              </a:spcAft>
            </a:pPr>
            <a:fld id="{50BF5611-0EAC-EE49-A74D-DA1AB1C67569}" type="slidenum">
              <a:rPr lang="en-US" smtClean="0"/>
              <a:pPr>
                <a:spcAft>
                  <a:spcPts val="600"/>
                </a:spcAft>
              </a:pPr>
              <a:t>3</a:t>
            </a:fld>
            <a:endParaRPr lang="en-US"/>
          </a:p>
        </p:txBody>
      </p:sp>
      <p:sp>
        <p:nvSpPr>
          <p:cNvPr id="6" name="TextBox 5">
            <a:extLst>
              <a:ext uri="{FF2B5EF4-FFF2-40B4-BE49-F238E27FC236}">
                <a16:creationId xmlns:a16="http://schemas.microsoft.com/office/drawing/2014/main" id="{C954EA53-884C-B8F4-6A4D-B6663B6FB869}"/>
              </a:ext>
            </a:extLst>
          </p:cNvPr>
          <p:cNvSpPr txBox="1"/>
          <p:nvPr/>
        </p:nvSpPr>
        <p:spPr>
          <a:xfrm>
            <a:off x="467833" y="6208776"/>
            <a:ext cx="4253023" cy="430887"/>
          </a:xfrm>
          <a:prstGeom prst="rect">
            <a:avLst/>
          </a:prstGeom>
          <a:noFill/>
        </p:spPr>
        <p:txBody>
          <a:bodyPr wrap="square" rtlCol="0">
            <a:spAutoFit/>
          </a:bodyPr>
          <a:lstStyle/>
          <a:p>
            <a:r>
              <a:rPr lang="en-US" sz="1050" dirty="0"/>
              <a:t>[1] https://</a:t>
            </a:r>
            <a:r>
              <a:rPr lang="en-US" sz="1050" dirty="0" err="1"/>
              <a:t>www.who.int</a:t>
            </a:r>
            <a:r>
              <a:rPr lang="en-US" sz="1050" dirty="0"/>
              <a:t>/news-room/fact-sheets/detail/cardiovascular-diseases-(</a:t>
            </a:r>
            <a:r>
              <a:rPr lang="en-US" sz="1050" dirty="0" err="1"/>
              <a:t>cvds</a:t>
            </a:r>
            <a:r>
              <a:rPr lang="en-US" sz="1050" dirty="0"/>
              <a:t>)</a:t>
            </a:r>
          </a:p>
        </p:txBody>
      </p:sp>
    </p:spTree>
    <p:extLst>
      <p:ext uri="{BB962C8B-B14F-4D97-AF65-F5344CB8AC3E}">
        <p14:creationId xmlns:p14="http://schemas.microsoft.com/office/powerpoint/2010/main" val="1993290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45B9FE-6C87-1627-8684-722DB64FD0FF}"/>
              </a:ext>
            </a:extLst>
          </p:cNvPr>
          <p:cNvSpPr>
            <a:spLocks noGrp="1"/>
          </p:cNvSpPr>
          <p:nvPr>
            <p:ph type="title"/>
          </p:nvPr>
        </p:nvSpPr>
        <p:spPr>
          <a:xfrm>
            <a:off x="640080" y="325369"/>
            <a:ext cx="4368602" cy="1956841"/>
          </a:xfrm>
        </p:spPr>
        <p:txBody>
          <a:bodyPr anchor="b">
            <a:normAutofit/>
          </a:bodyPr>
          <a:lstStyle/>
          <a:p>
            <a:r>
              <a:rPr lang="en-US" sz="5400" dirty="0"/>
              <a:t>Problem Statement</a:t>
            </a:r>
          </a:p>
        </p:txBody>
      </p:sp>
      <p:sp>
        <p:nvSpPr>
          <p:cNvPr id="410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21A4922-A839-EC02-0BA7-DAE01E75BD22}"/>
              </a:ext>
            </a:extLst>
          </p:cNvPr>
          <p:cNvSpPr>
            <a:spLocks noGrp="1"/>
          </p:cNvSpPr>
          <p:nvPr>
            <p:ph idx="1"/>
          </p:nvPr>
        </p:nvSpPr>
        <p:spPr>
          <a:xfrm>
            <a:off x="640080" y="2872899"/>
            <a:ext cx="7945120" cy="3320668"/>
          </a:xfrm>
        </p:spPr>
        <p:txBody>
          <a:bodyPr>
            <a:normAutofit/>
          </a:bodyPr>
          <a:lstStyle/>
          <a:p>
            <a:r>
              <a:rPr lang="en-US" dirty="0"/>
              <a:t>Develop a system for predicting the presence of heart disease based on clinical parameters.</a:t>
            </a:r>
          </a:p>
          <a:p>
            <a:r>
              <a:rPr lang="en-US" dirty="0"/>
              <a:t>Also, investigate gender-specific disease manifestation patterns.</a:t>
            </a:r>
          </a:p>
        </p:txBody>
      </p:sp>
      <p:pic>
        <p:nvPicPr>
          <p:cNvPr id="4098" name="Picture 2" descr="Line,Line art,Symbol,Clip art,Font,Number,Sign,Black-and-white #142225 -  Free Icon Library">
            <a:extLst>
              <a:ext uri="{FF2B5EF4-FFF2-40B4-BE49-F238E27FC236}">
                <a16:creationId xmlns:a16="http://schemas.microsoft.com/office/drawing/2014/main" id="{2E0DD36E-4B20-07A1-38D9-6E113D4501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03"/>
          <a:stretch>
            <a:fillRect/>
          </a:stretch>
        </p:blipFill>
        <p:spPr bwMode="auto">
          <a:xfrm>
            <a:off x="8752607" y="2013155"/>
            <a:ext cx="3439393" cy="342900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6BBCB57F-17D0-248C-13A2-6E0E164C9451}"/>
              </a:ext>
            </a:extLst>
          </p:cNvPr>
          <p:cNvSpPr>
            <a:spLocks noGrp="1"/>
          </p:cNvSpPr>
          <p:nvPr>
            <p:ph type="ftr" sz="quarter" idx="11"/>
          </p:nvPr>
        </p:nvSpPr>
        <p:spPr>
          <a:xfrm>
            <a:off x="6248400" y="6356350"/>
            <a:ext cx="4114800" cy="365125"/>
          </a:xfrm>
        </p:spPr>
        <p:txBody>
          <a:bodyPr>
            <a:normAutofit/>
          </a:bodyPr>
          <a:lstStyle/>
          <a:p>
            <a:pPr algn="l">
              <a:spcAft>
                <a:spcPts val="600"/>
              </a:spcAft>
            </a:pPr>
            <a:r>
              <a:rPr lang="en-US" dirty="0">
                <a:solidFill>
                  <a:schemeClr val="tx1"/>
                </a:solidFill>
              </a:rPr>
              <a:t>DV2638 – Machine Learning</a:t>
            </a:r>
          </a:p>
        </p:txBody>
      </p:sp>
      <p:sp>
        <p:nvSpPr>
          <p:cNvPr id="5" name="Slide Number Placeholder 4">
            <a:extLst>
              <a:ext uri="{FF2B5EF4-FFF2-40B4-BE49-F238E27FC236}">
                <a16:creationId xmlns:a16="http://schemas.microsoft.com/office/drawing/2014/main" id="{7525B56A-5CCD-ED1A-CF5F-E1AE97B29B50}"/>
              </a:ext>
            </a:extLst>
          </p:cNvPr>
          <p:cNvSpPr>
            <a:spLocks noGrp="1"/>
          </p:cNvSpPr>
          <p:nvPr>
            <p:ph type="sldNum" sz="quarter" idx="12"/>
          </p:nvPr>
        </p:nvSpPr>
        <p:spPr>
          <a:xfrm>
            <a:off x="10439400" y="6356350"/>
            <a:ext cx="914400" cy="365125"/>
          </a:xfrm>
        </p:spPr>
        <p:txBody>
          <a:bodyPr>
            <a:normAutofit/>
          </a:bodyPr>
          <a:lstStyle/>
          <a:p>
            <a:pPr>
              <a:spcAft>
                <a:spcPts val="600"/>
              </a:spcAft>
            </a:pPr>
            <a:fld id="{50BF5611-0EAC-EE49-A74D-DA1AB1C67569}" type="slidenum">
              <a:rPr lang="en-US">
                <a:solidFill>
                  <a:schemeClr val="tx1"/>
                </a:solidFill>
              </a:rPr>
              <a:pPr>
                <a:spcAft>
                  <a:spcPts val="600"/>
                </a:spcAft>
              </a:pPr>
              <a:t>4</a:t>
            </a:fld>
            <a:endParaRPr lang="en-US">
              <a:solidFill>
                <a:schemeClr val="tx1"/>
              </a:solidFill>
            </a:endParaRPr>
          </a:p>
        </p:txBody>
      </p:sp>
    </p:spTree>
    <p:extLst>
      <p:ext uri="{BB962C8B-B14F-4D97-AF65-F5344CB8AC3E}">
        <p14:creationId xmlns:p14="http://schemas.microsoft.com/office/powerpoint/2010/main" val="1946148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96B4F6-B36F-71EB-48EA-5562F75BEBCF}"/>
              </a:ext>
            </a:extLst>
          </p:cNvPr>
          <p:cNvSpPr>
            <a:spLocks noGrp="1"/>
          </p:cNvSpPr>
          <p:nvPr>
            <p:ph type="title"/>
          </p:nvPr>
        </p:nvSpPr>
        <p:spPr>
          <a:xfrm>
            <a:off x="640080" y="325369"/>
            <a:ext cx="4368602" cy="1956841"/>
          </a:xfrm>
        </p:spPr>
        <p:txBody>
          <a:bodyPr anchor="b">
            <a:normAutofit/>
          </a:bodyPr>
          <a:lstStyle/>
          <a:p>
            <a:r>
              <a:rPr lang="en-US" sz="5400" dirty="0"/>
              <a:t>Solution</a:t>
            </a:r>
          </a:p>
        </p:txBody>
      </p:sp>
      <p:sp>
        <p:nvSpPr>
          <p:cNvPr id="512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25473D8-F4B5-12F3-F52E-9C3077A76C5C}"/>
              </a:ext>
            </a:extLst>
          </p:cNvPr>
          <p:cNvSpPr>
            <a:spLocks noGrp="1"/>
          </p:cNvSpPr>
          <p:nvPr>
            <p:ph idx="1"/>
          </p:nvPr>
        </p:nvSpPr>
        <p:spPr>
          <a:xfrm>
            <a:off x="640080" y="2872899"/>
            <a:ext cx="7724987" cy="3320668"/>
          </a:xfrm>
        </p:spPr>
        <p:txBody>
          <a:bodyPr>
            <a:normAutofit/>
          </a:bodyPr>
          <a:lstStyle/>
          <a:p>
            <a:r>
              <a:rPr lang="en-US" dirty="0"/>
              <a:t>Train and compare 3 ML models:</a:t>
            </a:r>
          </a:p>
          <a:p>
            <a:pPr lvl="1"/>
            <a:r>
              <a:rPr lang="en-US" dirty="0"/>
              <a:t>Logistic Regression (Baseline) </a:t>
            </a:r>
          </a:p>
          <a:p>
            <a:pPr lvl="1"/>
            <a:r>
              <a:rPr lang="en-US" dirty="0"/>
              <a:t>Random Forest</a:t>
            </a:r>
          </a:p>
          <a:p>
            <a:pPr lvl="1"/>
            <a:r>
              <a:rPr lang="en-US" dirty="0" err="1"/>
              <a:t>XGBoost</a:t>
            </a:r>
            <a:endParaRPr lang="en-US" dirty="0"/>
          </a:p>
          <a:p>
            <a:pPr lvl="1"/>
            <a:r>
              <a:rPr lang="en-US" dirty="0"/>
              <a:t>Ensemble</a:t>
            </a:r>
          </a:p>
        </p:txBody>
      </p:sp>
      <p:sp>
        <p:nvSpPr>
          <p:cNvPr id="4" name="Footer Placeholder 3">
            <a:extLst>
              <a:ext uri="{FF2B5EF4-FFF2-40B4-BE49-F238E27FC236}">
                <a16:creationId xmlns:a16="http://schemas.microsoft.com/office/drawing/2014/main" id="{4A29517E-56E0-5462-ACCB-39A623508D51}"/>
              </a:ext>
            </a:extLst>
          </p:cNvPr>
          <p:cNvSpPr>
            <a:spLocks noGrp="1"/>
          </p:cNvSpPr>
          <p:nvPr>
            <p:ph type="ftr" sz="quarter" idx="11"/>
          </p:nvPr>
        </p:nvSpPr>
        <p:spPr>
          <a:xfrm>
            <a:off x="6248400" y="6356350"/>
            <a:ext cx="4114800" cy="365125"/>
          </a:xfrm>
        </p:spPr>
        <p:txBody>
          <a:bodyPr>
            <a:normAutofit/>
          </a:bodyPr>
          <a:lstStyle/>
          <a:p>
            <a:pPr algn="l">
              <a:spcAft>
                <a:spcPts val="600"/>
              </a:spcAft>
            </a:pPr>
            <a:r>
              <a:rPr lang="en-US" dirty="0">
                <a:solidFill>
                  <a:schemeClr val="tx1"/>
                </a:solidFill>
              </a:rPr>
              <a:t>DV2638 – Machine Learning</a:t>
            </a:r>
          </a:p>
        </p:txBody>
      </p:sp>
      <p:sp>
        <p:nvSpPr>
          <p:cNvPr id="5" name="Slide Number Placeholder 4">
            <a:extLst>
              <a:ext uri="{FF2B5EF4-FFF2-40B4-BE49-F238E27FC236}">
                <a16:creationId xmlns:a16="http://schemas.microsoft.com/office/drawing/2014/main" id="{A66B6985-D897-DAEB-4BC6-B0089168ADE6}"/>
              </a:ext>
            </a:extLst>
          </p:cNvPr>
          <p:cNvSpPr>
            <a:spLocks noGrp="1"/>
          </p:cNvSpPr>
          <p:nvPr>
            <p:ph type="sldNum" sz="quarter" idx="12"/>
          </p:nvPr>
        </p:nvSpPr>
        <p:spPr>
          <a:xfrm>
            <a:off x="10439400" y="6356350"/>
            <a:ext cx="914400" cy="365125"/>
          </a:xfrm>
        </p:spPr>
        <p:txBody>
          <a:bodyPr>
            <a:normAutofit/>
          </a:bodyPr>
          <a:lstStyle/>
          <a:p>
            <a:pPr>
              <a:spcAft>
                <a:spcPts val="600"/>
              </a:spcAft>
            </a:pPr>
            <a:fld id="{50BF5611-0EAC-EE49-A74D-DA1AB1C67569}" type="slidenum">
              <a:rPr lang="en-US">
                <a:solidFill>
                  <a:schemeClr val="tx1"/>
                </a:solidFill>
              </a:rPr>
              <a:pPr>
                <a:spcAft>
                  <a:spcPts val="600"/>
                </a:spcAft>
              </a:pPr>
              <a:t>5</a:t>
            </a:fld>
            <a:endParaRPr lang="en-US" dirty="0">
              <a:solidFill>
                <a:schemeClr val="tx1"/>
              </a:solidFill>
            </a:endParaRPr>
          </a:p>
        </p:txBody>
      </p:sp>
      <p:pic>
        <p:nvPicPr>
          <p:cNvPr id="5124" name="Picture 4" descr="75,000+ Arrow Target Board Stock Photos, Pictures &amp; Royalty-Free Images -  iStock">
            <a:extLst>
              <a:ext uri="{FF2B5EF4-FFF2-40B4-BE49-F238E27FC236}">
                <a16:creationId xmlns:a16="http://schemas.microsoft.com/office/drawing/2014/main" id="{3FB31F19-9FAD-A270-9E5F-572A7BB135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5370" y="1303789"/>
            <a:ext cx="4696630" cy="4696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6347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3FEE95-3F1B-DCCE-4879-7C166C465596}"/>
              </a:ext>
            </a:extLst>
          </p:cNvPr>
          <p:cNvSpPr>
            <a:spLocks noGrp="1"/>
          </p:cNvSpPr>
          <p:nvPr>
            <p:ph type="title"/>
          </p:nvPr>
        </p:nvSpPr>
        <p:spPr>
          <a:xfrm>
            <a:off x="640080" y="325369"/>
            <a:ext cx="4368602" cy="1956841"/>
          </a:xfrm>
        </p:spPr>
        <p:txBody>
          <a:bodyPr anchor="b">
            <a:normAutofit/>
          </a:bodyPr>
          <a:lstStyle/>
          <a:p>
            <a:r>
              <a:rPr lang="en-US" sz="5400"/>
              <a:t>Dataset</a:t>
            </a:r>
          </a:p>
        </p:txBody>
      </p:sp>
      <p:sp>
        <p:nvSpPr>
          <p:cNvPr id="1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6903ADE-DC45-A112-6DD9-3D1D74928D05}"/>
              </a:ext>
            </a:extLst>
          </p:cNvPr>
          <p:cNvSpPr>
            <a:spLocks noGrp="1"/>
          </p:cNvSpPr>
          <p:nvPr>
            <p:ph idx="1"/>
          </p:nvPr>
        </p:nvSpPr>
        <p:spPr>
          <a:xfrm>
            <a:off x="640080" y="2872899"/>
            <a:ext cx="7865394" cy="3320668"/>
          </a:xfrm>
        </p:spPr>
        <p:txBody>
          <a:bodyPr>
            <a:normAutofit lnSpcReduction="10000"/>
          </a:bodyPr>
          <a:lstStyle/>
          <a:p>
            <a:pPr marL="457200" lvl="1" indent="0">
              <a:buNone/>
            </a:pPr>
            <a:endParaRPr lang="en-US" sz="2800" dirty="0"/>
          </a:p>
          <a:p>
            <a:r>
              <a:rPr lang="en-US" dirty="0"/>
              <a:t>Heart Disease Dataset, Kaggle</a:t>
            </a:r>
          </a:p>
          <a:p>
            <a:r>
              <a:rPr lang="en-US" dirty="0"/>
              <a:t>Size: 1,025</a:t>
            </a:r>
          </a:p>
          <a:p>
            <a:r>
              <a:rPr lang="en-US" dirty="0"/>
              <a:t>Features: 13 clinical attributes </a:t>
            </a:r>
          </a:p>
          <a:p>
            <a:r>
              <a:rPr lang="en-US" dirty="0"/>
              <a:t>Target: Binary classification</a:t>
            </a:r>
          </a:p>
          <a:p>
            <a:r>
              <a:rPr lang="en-US" dirty="0"/>
              <a:t>Numerical &amp; Categorical features – original source</a:t>
            </a:r>
          </a:p>
          <a:p>
            <a:endParaRPr lang="en-US" dirty="0"/>
          </a:p>
        </p:txBody>
      </p:sp>
      <p:pic>
        <p:nvPicPr>
          <p:cNvPr id="6" name="Picture 2" descr="Colorful column graph clipart. Simple column chart watercolor style vector  illustration isolated on white background. Minimalist column graph data and  analytics diagram cartoon hand drawn doodle style 11065178 Vector Art at  Vecteezy">
            <a:extLst>
              <a:ext uri="{FF2B5EF4-FFF2-40B4-BE49-F238E27FC236}">
                <a16:creationId xmlns:a16="http://schemas.microsoft.com/office/drawing/2014/main" id="{9D0EE024-42DA-93BD-DB75-DD3ED2924B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885" r="23933"/>
          <a:stretch>
            <a:fillRect/>
          </a:stretch>
        </p:blipFill>
        <p:spPr bwMode="auto">
          <a:xfrm>
            <a:off x="8505474" y="1892132"/>
            <a:ext cx="3683478" cy="3672348"/>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6470A75A-C814-C37F-DA22-C019CFCC6881}"/>
              </a:ext>
            </a:extLst>
          </p:cNvPr>
          <p:cNvSpPr>
            <a:spLocks noGrp="1"/>
          </p:cNvSpPr>
          <p:nvPr>
            <p:ph type="ftr" sz="quarter" idx="11"/>
          </p:nvPr>
        </p:nvSpPr>
        <p:spPr>
          <a:xfrm>
            <a:off x="6248400" y="6356350"/>
            <a:ext cx="4114800" cy="365125"/>
          </a:xfrm>
        </p:spPr>
        <p:txBody>
          <a:bodyPr>
            <a:normAutofit/>
          </a:bodyPr>
          <a:lstStyle/>
          <a:p>
            <a:pPr algn="l">
              <a:spcAft>
                <a:spcPts val="600"/>
              </a:spcAft>
            </a:pPr>
            <a:r>
              <a:rPr lang="en-US" dirty="0">
                <a:solidFill>
                  <a:schemeClr val="tx1"/>
                </a:solidFill>
              </a:rPr>
              <a:t>DV2638 – Machine Learning</a:t>
            </a:r>
          </a:p>
        </p:txBody>
      </p:sp>
      <p:sp>
        <p:nvSpPr>
          <p:cNvPr id="5" name="Slide Number Placeholder 4">
            <a:extLst>
              <a:ext uri="{FF2B5EF4-FFF2-40B4-BE49-F238E27FC236}">
                <a16:creationId xmlns:a16="http://schemas.microsoft.com/office/drawing/2014/main" id="{05AB068A-2146-DCB1-2DB7-DBD87CC64FDC}"/>
              </a:ext>
            </a:extLst>
          </p:cNvPr>
          <p:cNvSpPr>
            <a:spLocks noGrp="1"/>
          </p:cNvSpPr>
          <p:nvPr>
            <p:ph type="sldNum" sz="quarter" idx="12"/>
          </p:nvPr>
        </p:nvSpPr>
        <p:spPr>
          <a:xfrm>
            <a:off x="10439400" y="6356350"/>
            <a:ext cx="914400" cy="365125"/>
          </a:xfrm>
        </p:spPr>
        <p:txBody>
          <a:bodyPr>
            <a:normAutofit/>
          </a:bodyPr>
          <a:lstStyle/>
          <a:p>
            <a:pPr>
              <a:spcAft>
                <a:spcPts val="600"/>
              </a:spcAft>
            </a:pPr>
            <a:fld id="{50BF5611-0EAC-EE49-A74D-DA1AB1C67569}" type="slidenum">
              <a:rPr lang="en-US">
                <a:solidFill>
                  <a:schemeClr val="tx1"/>
                </a:solidFill>
              </a:rPr>
              <a:pPr>
                <a:spcAft>
                  <a:spcPts val="600"/>
                </a:spcAft>
              </a:pPr>
              <a:t>6</a:t>
            </a:fld>
            <a:endParaRPr lang="en-US">
              <a:solidFill>
                <a:schemeClr val="tx1"/>
              </a:solidFill>
            </a:endParaRPr>
          </a:p>
        </p:txBody>
      </p:sp>
    </p:spTree>
    <p:extLst>
      <p:ext uri="{BB962C8B-B14F-4D97-AF65-F5344CB8AC3E}">
        <p14:creationId xmlns:p14="http://schemas.microsoft.com/office/powerpoint/2010/main" val="44390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82" name="Rectangle 718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9A17BC-61AC-61F6-6E4B-140035ABAB77}"/>
              </a:ext>
            </a:extLst>
          </p:cNvPr>
          <p:cNvSpPr>
            <a:spLocks noGrp="1"/>
          </p:cNvSpPr>
          <p:nvPr>
            <p:ph type="title"/>
          </p:nvPr>
        </p:nvSpPr>
        <p:spPr>
          <a:xfrm>
            <a:off x="640080" y="325369"/>
            <a:ext cx="4368602" cy="1956841"/>
          </a:xfrm>
        </p:spPr>
        <p:txBody>
          <a:bodyPr anchor="b">
            <a:normAutofit/>
          </a:bodyPr>
          <a:lstStyle/>
          <a:p>
            <a:r>
              <a:rPr lang="en-US" sz="5400"/>
              <a:t>Performance Metrics</a:t>
            </a:r>
          </a:p>
        </p:txBody>
      </p:sp>
      <p:sp>
        <p:nvSpPr>
          <p:cNvPr id="718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64D6210-C664-31F4-1704-5C59B31BDCA8}"/>
              </a:ext>
            </a:extLst>
          </p:cNvPr>
          <p:cNvSpPr>
            <a:spLocks noGrp="1"/>
          </p:cNvSpPr>
          <p:nvPr>
            <p:ph idx="1"/>
          </p:nvPr>
        </p:nvSpPr>
        <p:spPr>
          <a:xfrm>
            <a:off x="640080" y="2872899"/>
            <a:ext cx="7724987" cy="3320668"/>
          </a:xfrm>
        </p:spPr>
        <p:txBody>
          <a:bodyPr>
            <a:normAutofit lnSpcReduction="10000"/>
          </a:bodyPr>
          <a:lstStyle/>
          <a:p>
            <a:r>
              <a:rPr lang="en-US" dirty="0"/>
              <a:t>Accuracy: Overall correctness</a:t>
            </a:r>
          </a:p>
          <a:p>
            <a:r>
              <a:rPr lang="en-US" dirty="0"/>
              <a:t>Precision: Positive predictive value</a:t>
            </a:r>
          </a:p>
          <a:p>
            <a:r>
              <a:rPr lang="en-US" b="1" dirty="0"/>
              <a:t>Recall </a:t>
            </a:r>
            <a:r>
              <a:rPr lang="en-US" dirty="0"/>
              <a:t>(Sensitivity):  </a:t>
            </a:r>
            <a:r>
              <a:rPr lang="en-US" b="1" dirty="0"/>
              <a:t>minimizing false negatives</a:t>
            </a:r>
          </a:p>
          <a:p>
            <a:r>
              <a:rPr lang="en-US" dirty="0"/>
              <a:t>F1-Score</a:t>
            </a:r>
          </a:p>
          <a:p>
            <a:r>
              <a:rPr lang="en-US" dirty="0"/>
              <a:t>ROC</a:t>
            </a:r>
          </a:p>
          <a:p>
            <a:r>
              <a:rPr lang="en-US" dirty="0"/>
              <a:t>Confusion Matrix</a:t>
            </a:r>
          </a:p>
        </p:txBody>
      </p:sp>
      <p:pic>
        <p:nvPicPr>
          <p:cNvPr id="7172" name="Picture 4" descr="Medical exam 3d icon clipboard health checkup insurance report 3d rendering  illustration | Premium Photo">
            <a:extLst>
              <a:ext uri="{FF2B5EF4-FFF2-40B4-BE49-F238E27FC236}">
                <a16:creationId xmlns:a16="http://schemas.microsoft.com/office/drawing/2014/main" id="{57FEE2A7-6194-7FE7-4E0D-4D8EB185F8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02"/>
          <a:stretch>
            <a:fillRect/>
          </a:stretch>
        </p:blipFill>
        <p:spPr bwMode="auto">
          <a:xfrm>
            <a:off x="8192363" y="1436449"/>
            <a:ext cx="3997179" cy="3985101"/>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1D025F5B-22CB-1F45-EF92-5FC2C59F43F9}"/>
              </a:ext>
            </a:extLst>
          </p:cNvPr>
          <p:cNvSpPr>
            <a:spLocks noGrp="1"/>
          </p:cNvSpPr>
          <p:nvPr>
            <p:ph type="ftr" sz="quarter" idx="11"/>
          </p:nvPr>
        </p:nvSpPr>
        <p:spPr>
          <a:xfrm>
            <a:off x="6248400" y="6356350"/>
            <a:ext cx="4114800" cy="365125"/>
          </a:xfrm>
        </p:spPr>
        <p:txBody>
          <a:bodyPr>
            <a:normAutofit/>
          </a:bodyPr>
          <a:lstStyle/>
          <a:p>
            <a:pPr algn="l">
              <a:spcAft>
                <a:spcPts val="600"/>
              </a:spcAft>
            </a:pPr>
            <a:r>
              <a:rPr lang="en-US" dirty="0">
                <a:solidFill>
                  <a:schemeClr val="tx1"/>
                </a:solidFill>
              </a:rPr>
              <a:t>DV2638 – Machine Learning</a:t>
            </a:r>
          </a:p>
        </p:txBody>
      </p:sp>
      <p:sp>
        <p:nvSpPr>
          <p:cNvPr id="5" name="Slide Number Placeholder 4">
            <a:extLst>
              <a:ext uri="{FF2B5EF4-FFF2-40B4-BE49-F238E27FC236}">
                <a16:creationId xmlns:a16="http://schemas.microsoft.com/office/drawing/2014/main" id="{4D47B2CD-5174-4D29-F1C8-8B6AAA1C3C82}"/>
              </a:ext>
            </a:extLst>
          </p:cNvPr>
          <p:cNvSpPr>
            <a:spLocks noGrp="1"/>
          </p:cNvSpPr>
          <p:nvPr>
            <p:ph type="sldNum" sz="quarter" idx="12"/>
          </p:nvPr>
        </p:nvSpPr>
        <p:spPr>
          <a:xfrm>
            <a:off x="10439400" y="6356350"/>
            <a:ext cx="914400" cy="365125"/>
          </a:xfrm>
        </p:spPr>
        <p:txBody>
          <a:bodyPr>
            <a:normAutofit/>
          </a:bodyPr>
          <a:lstStyle/>
          <a:p>
            <a:pPr>
              <a:spcAft>
                <a:spcPts val="600"/>
              </a:spcAft>
            </a:pPr>
            <a:fld id="{50BF5611-0EAC-EE49-A74D-DA1AB1C67569}" type="slidenum">
              <a:rPr lang="en-US">
                <a:solidFill>
                  <a:schemeClr val="tx1"/>
                </a:solidFill>
              </a:rPr>
              <a:pPr>
                <a:spcAft>
                  <a:spcPts val="600"/>
                </a:spcAft>
              </a:pPr>
              <a:t>7</a:t>
            </a:fld>
            <a:endParaRPr lang="en-US">
              <a:solidFill>
                <a:schemeClr val="tx1"/>
              </a:solidFill>
            </a:endParaRPr>
          </a:p>
        </p:txBody>
      </p:sp>
    </p:spTree>
    <p:extLst>
      <p:ext uri="{BB962C8B-B14F-4D97-AF65-F5344CB8AC3E}">
        <p14:creationId xmlns:p14="http://schemas.microsoft.com/office/powerpoint/2010/main" val="3372501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E00A96-AF1E-DB60-EE84-3AA70EA4413D}"/>
              </a:ext>
            </a:extLst>
          </p:cNvPr>
          <p:cNvSpPr>
            <a:spLocks noGrp="1"/>
          </p:cNvSpPr>
          <p:nvPr>
            <p:ph type="title"/>
          </p:nvPr>
        </p:nvSpPr>
        <p:spPr>
          <a:xfrm>
            <a:off x="640080" y="325369"/>
            <a:ext cx="4368602" cy="1956841"/>
          </a:xfrm>
        </p:spPr>
        <p:txBody>
          <a:bodyPr anchor="b">
            <a:normAutofit/>
          </a:bodyPr>
          <a:lstStyle/>
          <a:p>
            <a:r>
              <a:rPr lang="en-US" sz="4200"/>
              <a:t>Questions &amp; Discussion</a:t>
            </a:r>
            <a:br>
              <a:rPr lang="en-US" sz="4200"/>
            </a:br>
            <a:endParaRPr lang="en-US" sz="4200"/>
          </a:p>
        </p:txBody>
      </p:sp>
      <p:sp>
        <p:nvSpPr>
          <p:cNvPr id="820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DDBC74D-C0F0-3687-923E-A3A10423DF34}"/>
              </a:ext>
            </a:extLst>
          </p:cNvPr>
          <p:cNvSpPr>
            <a:spLocks noGrp="1"/>
          </p:cNvSpPr>
          <p:nvPr>
            <p:ph idx="1"/>
          </p:nvPr>
        </p:nvSpPr>
        <p:spPr>
          <a:xfrm>
            <a:off x="640080" y="2872899"/>
            <a:ext cx="4243589" cy="3320668"/>
          </a:xfrm>
        </p:spPr>
        <p:txBody>
          <a:bodyPr>
            <a:normAutofit/>
          </a:bodyPr>
          <a:lstStyle/>
          <a:p>
            <a:endParaRPr lang="en-US" sz="2200" b="1" dirty="0"/>
          </a:p>
          <a:p>
            <a:pPr marL="0" indent="0">
              <a:buNone/>
            </a:pPr>
            <a:endParaRPr lang="en-US" b="1" dirty="0"/>
          </a:p>
          <a:p>
            <a:pPr marL="0" indent="0">
              <a:buNone/>
            </a:pPr>
            <a:endParaRPr lang="en-US" b="1" dirty="0"/>
          </a:p>
          <a:p>
            <a:pPr marL="0" indent="0" algn="ctr">
              <a:buNone/>
            </a:pPr>
            <a:r>
              <a:rPr lang="en-US" b="1" dirty="0"/>
              <a:t>Thank You</a:t>
            </a:r>
            <a:endParaRPr lang="en-US" dirty="0"/>
          </a:p>
        </p:txBody>
      </p:sp>
      <p:pic>
        <p:nvPicPr>
          <p:cNvPr id="8194" name="Picture 2" descr="How To Write An Effective Discussion Question | UBIS">
            <a:extLst>
              <a:ext uri="{FF2B5EF4-FFF2-40B4-BE49-F238E27FC236}">
                <a16:creationId xmlns:a16="http://schemas.microsoft.com/office/drawing/2014/main" id="{E09134C4-39BE-FB96-8CD1-5DE1760DBA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213" r="18085"/>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47927F69-FD08-8CBE-3A2B-067914FAED92}"/>
              </a:ext>
            </a:extLst>
          </p:cNvPr>
          <p:cNvSpPr>
            <a:spLocks noGrp="1"/>
          </p:cNvSpPr>
          <p:nvPr>
            <p:ph type="ftr" sz="quarter" idx="11"/>
          </p:nvPr>
        </p:nvSpPr>
        <p:spPr>
          <a:xfrm>
            <a:off x="6248400" y="6356350"/>
            <a:ext cx="4114800" cy="365125"/>
          </a:xfrm>
        </p:spPr>
        <p:txBody>
          <a:bodyPr>
            <a:normAutofit/>
          </a:bodyPr>
          <a:lstStyle/>
          <a:p>
            <a:pPr algn="l">
              <a:spcAft>
                <a:spcPts val="600"/>
              </a:spcAft>
            </a:pPr>
            <a:r>
              <a:rPr lang="en-US" dirty="0">
                <a:solidFill>
                  <a:srgbClr val="FFFFFF"/>
                </a:solidFill>
              </a:rPr>
              <a:t>DV2638 – Machine Learning</a:t>
            </a:r>
          </a:p>
        </p:txBody>
      </p:sp>
      <p:sp>
        <p:nvSpPr>
          <p:cNvPr id="5" name="Slide Number Placeholder 4">
            <a:extLst>
              <a:ext uri="{FF2B5EF4-FFF2-40B4-BE49-F238E27FC236}">
                <a16:creationId xmlns:a16="http://schemas.microsoft.com/office/drawing/2014/main" id="{BB88071E-6151-3559-C5E9-D0A0F82BA04C}"/>
              </a:ext>
            </a:extLst>
          </p:cNvPr>
          <p:cNvSpPr>
            <a:spLocks noGrp="1"/>
          </p:cNvSpPr>
          <p:nvPr>
            <p:ph type="sldNum" sz="quarter" idx="12"/>
          </p:nvPr>
        </p:nvSpPr>
        <p:spPr>
          <a:xfrm>
            <a:off x="10439400" y="6356350"/>
            <a:ext cx="914400" cy="365125"/>
          </a:xfrm>
        </p:spPr>
        <p:txBody>
          <a:bodyPr>
            <a:normAutofit/>
          </a:bodyPr>
          <a:lstStyle/>
          <a:p>
            <a:pPr>
              <a:spcAft>
                <a:spcPts val="600"/>
              </a:spcAft>
            </a:pPr>
            <a:fld id="{50BF5611-0EAC-EE49-A74D-DA1AB1C67569}" type="slidenum">
              <a:rPr lang="en-US">
                <a:solidFill>
                  <a:srgbClr val="FFFFFF"/>
                </a:solidFill>
              </a:rPr>
              <a:pPr>
                <a:spcAft>
                  <a:spcPts val="600"/>
                </a:spcAft>
              </a:pPr>
              <a:t>8</a:t>
            </a:fld>
            <a:endParaRPr lang="en-US">
              <a:solidFill>
                <a:srgbClr val="FFFFFF"/>
              </a:solidFill>
            </a:endParaRPr>
          </a:p>
        </p:txBody>
      </p:sp>
    </p:spTree>
    <p:extLst>
      <p:ext uri="{BB962C8B-B14F-4D97-AF65-F5344CB8AC3E}">
        <p14:creationId xmlns:p14="http://schemas.microsoft.com/office/powerpoint/2010/main" val="26312199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199</Words>
  <Application>Microsoft Macintosh PowerPoint</Application>
  <PresentationFormat>Widescreen</PresentationFormat>
  <Paragraphs>52</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PowerPoint Presentation</vt:lpstr>
      <vt:lpstr>Gender-Based-Comparative-Analysis-of-Heart-Disease-Prediction-Models </vt:lpstr>
      <vt:lpstr>Background</vt:lpstr>
      <vt:lpstr>Problem Statement</vt:lpstr>
      <vt:lpstr>Solution</vt:lpstr>
      <vt:lpstr>Dataset</vt:lpstr>
      <vt:lpstr>Performance Metrics</vt:lpstr>
      <vt:lpstr>Questions &amp; Discussion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Umair Akram Butt</dc:creator>
  <cp:lastModifiedBy>Muhammad Umair Akram Butt</cp:lastModifiedBy>
  <cp:revision>16</cp:revision>
  <dcterms:created xsi:type="dcterms:W3CDTF">2025-12-03T21:32:47Z</dcterms:created>
  <dcterms:modified xsi:type="dcterms:W3CDTF">2026-02-23T19:34:52Z</dcterms:modified>
</cp:coreProperties>
</file>